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4A9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SATOI Mock 全体構成図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FA5B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フェーズ 0 〜 0.5 / 案D「夜と朝のハイブリッド」/ 画面ツリー A〜J + 主要遷移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D4A95E">
              <a:alpha val="30000"/>
            </a:srgbClr>
          </a:solidFill>
          <a:ln w="12700">
            <a:solidFill>
              <a:srgbClr val="D4A9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3657600" cy="1691640"/>
          </a:xfrm>
          <a:prstGeom prst="rect">
            <a:avLst/>
          </a:prstGeom>
          <a:solidFill>
            <a:srgbClr val="1A2548"/>
          </a:solidFill>
          <a:ln w="12700">
            <a:solidFill>
              <a:srgbClr val="D4A9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54864" cy="1691640"/>
          </a:xfrm>
          <a:prstGeom prst="rect">
            <a:avLst/>
          </a:prstGeom>
          <a:solidFill>
            <a:srgbClr val="D4A95E"/>
          </a:solidFill>
          <a:ln w="12700">
            <a:solidFill>
              <a:srgbClr val="D4A9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1399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D4A9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 🟢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1792" y="1399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6F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初回入口体験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709928"/>
            <a:ext cx="3337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A1  トップ「夜空の灯」7不安キーワード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A2  入口分岐(本人/家族・友人/PS緩和)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A3  最初の3つの質問(対話形式)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A4  AI対話(パターンマッチ型)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A5  リアルタイム統計フワーン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3657600" cy="1874520"/>
          </a:xfrm>
          <a:prstGeom prst="rect">
            <a:avLst/>
          </a:prstGeom>
          <a:solidFill>
            <a:srgbClr val="1A2548"/>
          </a:solidFill>
          <a:ln w="12700">
            <a:solidFill>
              <a:srgbClr val="D4A9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108960"/>
            <a:ext cx="54864" cy="1874520"/>
          </a:xfrm>
          <a:prstGeom prst="rect">
            <a:avLst/>
          </a:prstGeom>
          <a:solidFill>
            <a:srgbClr val="D4A95E"/>
          </a:solidFill>
          <a:ln w="12700">
            <a:solidFill>
              <a:srgbClr val="D4A9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31821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D4A9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 🟢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" y="3182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6F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治療マインドマップ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3493008"/>
            <a:ext cx="3337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B1  俯瞰モード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B2  フォーカス(自分の現在地)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B3  分岐ノード→治療詳細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B4  薬剤・レジメン(6がん種)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B5  PubMed連携+AI翻訳 🟡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B6  SDM質問カード(PDF/QR)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B7  セカンドオピニオン動線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5074920"/>
            <a:ext cx="3657600" cy="1600200"/>
          </a:xfrm>
          <a:prstGeom prst="rect">
            <a:avLst/>
          </a:prstGeom>
          <a:solidFill>
            <a:srgbClr val="1A2548"/>
          </a:solidFill>
          <a:ln w="12700">
            <a:solidFill>
              <a:srgbClr val="7FA8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5074920"/>
            <a:ext cx="54864" cy="1600200"/>
          </a:xfrm>
          <a:prstGeom prst="rect">
            <a:avLst/>
          </a:prstGeom>
          <a:solidFill>
            <a:srgbClr val="7FA8C9"/>
          </a:solidFill>
          <a:ln w="12700">
            <a:solidFill>
              <a:srgbClr val="7FA8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51480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7FA8C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1792" y="5148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6F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ナラティブ・コミュニティ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5458968"/>
            <a:ext cx="3337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D1  同じ境遇の語り一覧 🟢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D2  物語動画(3分)🟡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D3  先輩の言葉ノート 🟡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D4  ありがとうカード 🟠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D5  みんなのタイムライン 🟠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D6  人生軌跡動画+ACP 🟡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51960" y="1325880"/>
            <a:ext cx="3657600" cy="2331720"/>
          </a:xfrm>
          <a:prstGeom prst="rect">
            <a:avLst/>
          </a:prstGeom>
          <a:solidFill>
            <a:srgbClr val="1A2548"/>
          </a:solidFill>
          <a:ln w="12700">
            <a:solidFill>
              <a:srgbClr val="E5C6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51960" y="1325880"/>
            <a:ext cx="54864" cy="2331720"/>
          </a:xfrm>
          <a:prstGeom prst="rect">
            <a:avLst/>
          </a:prstGeom>
          <a:solidFill>
            <a:srgbClr val="E5C68A"/>
          </a:solidFill>
          <a:ln w="12700">
            <a:solidFill>
              <a:srgbClr val="E5C6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1399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E5C6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 🟢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416552" y="1399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6F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マイページ(2回目以降ログイン世界)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53128" y="1709928"/>
            <a:ext cx="3337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C1  ログイン画面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C2  「おかえりなさい」前回の続き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C3  ダッシュボード(物語の壺/気持ち軌跡)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C4  今日の気持ちチェックイン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C5  体調・症状(EMPSe段階解放)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C6  治療記録・タイムライン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C7  自分のアバター 🟡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C8  物語の壺(光の粒)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C9  受診の記録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C10  あなたのチーム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51960" y="3749040"/>
            <a:ext cx="3657600" cy="1417320"/>
          </a:xfrm>
          <a:prstGeom prst="rect">
            <a:avLst/>
          </a:prstGeom>
          <a:solidFill>
            <a:srgbClr val="1A2548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51960" y="3749040"/>
            <a:ext cx="54864" cy="1417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38221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0D737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 🟢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416552" y="3822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6F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制度・お金(国がん療養手帳デジタル版)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53128" y="4133088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E1  高額療養費シミュレーター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E2  使える制度マッチング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E3  申請サポート(書類PDF)🟡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E4  医療費控除集計 🟡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E5  民間保険給付チェック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51960" y="5257800"/>
            <a:ext cx="3657600" cy="1417320"/>
          </a:xfrm>
          <a:prstGeom prst="rect">
            <a:avLst/>
          </a:prstGeom>
          <a:solidFill>
            <a:srgbClr val="1A2548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51960" y="5257800"/>
            <a:ext cx="54864" cy="141732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06640" y="5330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D462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 🟢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416552" y="5330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6F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救急・連携(v2.6 資産活用)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453128" y="5641848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F1  緊急QR(夜空版にリデザイン)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F2  救急医ビュー(多言語5)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F3  主治医・搬送先・家族通知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F4  副作用報告→厚労省連携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   (フッター表示+クリック詳細)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046720" y="1325880"/>
            <a:ext cx="3657600" cy="1325880"/>
          </a:xfrm>
          <a:prstGeom prst="rect">
            <a:avLst/>
          </a:prstGeom>
          <a:solidFill>
            <a:srgbClr val="1A2548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0" y="1325880"/>
            <a:ext cx="54864" cy="13258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201400" y="1399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0D737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 🟢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211312" y="1399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6F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保険会社連携(別ルート)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247888" y="1709928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G1  右上ログインボタン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G2  法人会員ログイン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G3  保険プラン専用ページ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G4  給付シミュ+税金計算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G5  「今やるべきこと」案内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046720" y="2743200"/>
            <a:ext cx="3657600" cy="960120"/>
          </a:xfrm>
          <a:prstGeom prst="rect">
            <a:avLst/>
          </a:prstGeom>
          <a:solidFill>
            <a:srgbClr val="1A2548"/>
          </a:solidFill>
          <a:ln w="12700">
            <a:solidFill>
              <a:srgbClr val="7FA8C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46720" y="2743200"/>
            <a:ext cx="54864" cy="960120"/>
          </a:xfrm>
          <a:prstGeom prst="rect">
            <a:avLst/>
          </a:prstGeom>
          <a:solidFill>
            <a:srgbClr val="7FA8C9"/>
          </a:solidFill>
          <a:ln w="12700">
            <a:solidFill>
              <a:srgbClr val="7FA8C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201400" y="28163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7FA8C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211312" y="2816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6F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常駐機能(全画面共通)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247888" y="312724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H1  隣に座る人(消せる)🟡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H2  ナッジ(横ペコっと)🟢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H3  今この瞬間◯人ティッカー 🟡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046720" y="3794760"/>
            <a:ext cx="3657600" cy="960120"/>
          </a:xfrm>
          <a:prstGeom prst="rect">
            <a:avLst/>
          </a:prstGeom>
          <a:solidFill>
            <a:srgbClr val="1A2548"/>
          </a:solidFill>
          <a:ln w="12700">
            <a:solidFill>
              <a:srgbClr val="D4A95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46720" y="3794760"/>
            <a:ext cx="54864" cy="960120"/>
          </a:xfrm>
          <a:prstGeom prst="rect">
            <a:avLst/>
          </a:prstGeom>
          <a:solidFill>
            <a:srgbClr val="D4A95E"/>
          </a:solidFill>
          <a:ln w="12700">
            <a:solidFill>
              <a:srgbClr val="D4A9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201400" y="38679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D4A9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 🟢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211312" y="3867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6F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フィロソフィー・About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247888" y="417880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I1  About SATOI(NBM哲学)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I2  なぜつながる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I3  データガバナンス・副作用報告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046720" y="4846320"/>
            <a:ext cx="3657600" cy="1828800"/>
          </a:xfrm>
          <a:prstGeom prst="rect">
            <a:avLst/>
          </a:prstGeom>
          <a:solidFill>
            <a:srgbClr val="1A2548"/>
          </a:solidFill>
          <a:ln w="12700">
            <a:solidFill>
              <a:srgbClr val="7FA8C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46720" y="4846320"/>
            <a:ext cx="54864" cy="1828800"/>
          </a:xfrm>
          <a:prstGeom prst="rect">
            <a:avLst/>
          </a:prstGeom>
          <a:solidFill>
            <a:srgbClr val="7FA8C9"/>
          </a:solidFill>
          <a:ln w="12700">
            <a:solidFill>
              <a:srgbClr val="7FA8C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201400" y="4919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7FA8C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 🟡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8211312" y="4919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6F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AI研究支援+グローバル(C会員サブスク)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8247888" y="5230368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J1  文献検索ボード(PubMed)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J2  AI翻訳・要約(英→日)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J3  YouTube/動画解析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J4  主治医・家族向け資料生成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J5  海外臨床試験情報</a:t>
            </a:r>
            <a:endParaRPr lang="en-US" sz="10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6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J6  言語切替(日/英/中)🟢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57200" y="6446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FA5B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実装プライオリティ: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2148840" y="64465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4A95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🟢 Mock第1段階 必須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3931920" y="64465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FA8C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🟡 機能の存在を見せる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715000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A5B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🟠 フェーズ2以降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457200" y="6675120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FA5B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配色:深紺#0B1736 / 星明かり金#D4A95E / 朝白#F8F6F0 / 癒し青#7FA8C9 / ティール#0D7377 / 暖オレンジ#D4622A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SATOI Mock - Overall Structure Map</dc:title>
  <dc:subject>PptxGenJS Presentation</dc:subject>
  <dc:creator>SATOI</dc:creator>
  <cp:lastModifiedBy>SATOI</cp:lastModifiedBy>
  <cp:revision>1</cp:revision>
  <dcterms:created xsi:type="dcterms:W3CDTF">2026-05-18T14:52:45Z</dcterms:created>
  <dcterms:modified xsi:type="dcterms:W3CDTF">2026-05-18T14:52:45Z</dcterms:modified>
</cp:coreProperties>
</file>